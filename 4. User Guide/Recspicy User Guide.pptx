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6858000" cx="12192000"/>
  <p:notesSz cx="6858000" cy="9144000"/>
  <p:embeddedFontLst>
    <p:embeddedFont>
      <p:font typeface="Play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Play-bold.fntdata"/><Relationship Id="rId27" Type="http://schemas.openxmlformats.org/officeDocument/2006/relationships/font" Target="fonts/Pla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hyperlink" Target="https://recspicy.onrender.com/" TargetMode="External"/><Relationship Id="rId5" Type="http://schemas.openxmlformats.org/officeDocument/2006/relationships/image" Target="../media/image21.png"/><Relationship Id="rId6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5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5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/>
          <p:nvPr/>
        </p:nvSpPr>
        <p:spPr>
          <a:xfrm flipH="1" rot="10800000">
            <a:off x="455521" y="-1720"/>
            <a:ext cx="11750040" cy="6840685"/>
          </a:xfrm>
          <a:prstGeom prst="rect">
            <a:avLst/>
          </a:prstGeom>
          <a:gradFill>
            <a:gsLst>
              <a:gs pos="0">
                <a:srgbClr val="0A3041">
                  <a:alpha val="60784"/>
                </a:srgbClr>
              </a:gs>
              <a:gs pos="21000">
                <a:srgbClr val="0A3041">
                  <a:alpha val="60784"/>
                </a:srgbClr>
              </a:gs>
              <a:gs pos="100000">
                <a:srgbClr val="156082">
                  <a:alpha val="0"/>
                </a:srgbClr>
              </a:gs>
            </a:gsLst>
            <a:lin ang="21593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rgbClr val="0F4861">
                  <a:alpha val="0"/>
                </a:srgbClr>
              </a:gs>
              <a:gs pos="99000">
                <a:srgbClr val="000000">
                  <a:alpha val="40784"/>
                </a:srgbClr>
              </a:gs>
              <a:gs pos="100000">
                <a:srgbClr val="000000">
                  <a:alpha val="40784"/>
                </a:srgbClr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/>
          <p:nvPr/>
        </p:nvSpPr>
        <p:spPr>
          <a:xfrm rot="-6325827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rgbClr val="156082">
                  <a:alpha val="23921"/>
                </a:srgbClr>
              </a:gs>
              <a:gs pos="79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14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 txBox="1"/>
          <p:nvPr>
            <p:ph type="ctrTitle"/>
          </p:nvPr>
        </p:nvSpPr>
        <p:spPr>
          <a:xfrm>
            <a:off x="1386865" y="818984"/>
            <a:ext cx="6596245" cy="32685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lay"/>
              <a:buNone/>
            </a:pPr>
            <a:r>
              <a:rPr lang="en-US" sz="4800">
                <a:solidFill>
                  <a:srgbClr val="FFFFFF"/>
                </a:solidFill>
              </a:rPr>
              <a:t>Recspicy User Guide</a:t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 flipH="1" rot="10800000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rgbClr val="0F4861">
                  <a:alpha val="49803"/>
                </a:srgbClr>
              </a:gs>
              <a:gs pos="99000">
                <a:srgbClr val="000000">
                  <a:alpha val="33725"/>
                </a:srgbClr>
              </a:gs>
              <a:gs pos="100000">
                <a:srgbClr val="000000">
                  <a:alpha val="33725"/>
                </a:srgbClr>
              </a:gs>
            </a:gsLst>
            <a:lin ang="17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3"/>
          <p:cNvSpPr/>
          <p:nvPr/>
        </p:nvSpPr>
        <p:spPr>
          <a:xfrm flipH="1" rot="-5400000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rgbClr val="0F4861">
                  <a:alpha val="49803"/>
                </a:srgbClr>
              </a:gs>
              <a:gs pos="99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4"/>
          <p:cNvSpPr/>
          <p:nvPr/>
        </p:nvSpPr>
        <p:spPr>
          <a:xfrm flipH="1" rot="10800000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4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3000">
                <a:srgbClr val="156082">
                  <a:alpha val="0"/>
                </a:srgbClr>
              </a:gs>
              <a:gs pos="99000">
                <a:srgbClr val="000000">
                  <a:alpha val="73725"/>
                </a:srgbClr>
              </a:gs>
              <a:gs pos="100000">
                <a:srgbClr val="000000">
                  <a:alpha val="73725"/>
                </a:srgbClr>
              </a:gs>
            </a:gsLst>
            <a:lin ang="203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n-US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Welcome to Recspicy</a:t>
            </a:r>
            <a:endParaRPr sz="4000">
              <a:solidFill>
                <a:srgbClr val="FFFFFF"/>
              </a:solidFill>
            </a:endParaRPr>
          </a:p>
        </p:txBody>
      </p:sp>
      <p:grpSp>
        <p:nvGrpSpPr>
          <p:cNvPr id="101" name="Google Shape;101;p14"/>
          <p:cNvGrpSpPr/>
          <p:nvPr/>
        </p:nvGrpSpPr>
        <p:grpSpPr>
          <a:xfrm>
            <a:off x="645389" y="2995074"/>
            <a:ext cx="10925161" cy="2427813"/>
            <a:chOff x="1333" y="882495"/>
            <a:chExt cx="10925161" cy="2427813"/>
          </a:xfrm>
        </p:grpSpPr>
        <p:sp>
          <p:nvSpPr>
            <p:cNvPr id="102" name="Google Shape;102;p14"/>
            <p:cNvSpPr/>
            <p:nvPr/>
          </p:nvSpPr>
          <p:spPr>
            <a:xfrm>
              <a:off x="1333" y="882495"/>
              <a:ext cx="4855627" cy="2427813"/>
            </a:xfrm>
            <a:prstGeom prst="roundRect">
              <a:avLst>
                <a:gd fmla="val 10000" name="adj"/>
              </a:avLst>
            </a:prstGeom>
            <a:solidFill>
              <a:srgbClr val="12608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4"/>
            <p:cNvSpPr txBox="1"/>
            <p:nvPr/>
          </p:nvSpPr>
          <p:spPr>
            <a:xfrm>
              <a:off x="72441" y="953603"/>
              <a:ext cx="4713411" cy="22855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2050" lIns="78100" spcFirstLastPara="1" rIns="78100" wrap="square" tIns="520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100"/>
                <a:buFont typeface="Arial"/>
                <a:buNone/>
              </a:pPr>
              <a:r>
                <a:rPr b="0" i="0" lang="en-US" sz="4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 website for recipe searching, creation, and meal planning</a:t>
              </a:r>
              <a:endParaRPr/>
            </a:p>
          </p:txBody>
        </p:sp>
        <p:sp>
          <p:nvSpPr>
            <p:cNvPr id="104" name="Google Shape;104;p14"/>
            <p:cNvSpPr/>
            <p:nvPr/>
          </p:nvSpPr>
          <p:spPr>
            <a:xfrm>
              <a:off x="6070867" y="882495"/>
              <a:ext cx="4855627" cy="2427813"/>
            </a:xfrm>
            <a:prstGeom prst="roundRect">
              <a:avLst>
                <a:gd fmla="val 10000" name="adj"/>
              </a:avLst>
            </a:prstGeom>
            <a:solidFill>
              <a:srgbClr val="12608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4"/>
            <p:cNvSpPr txBox="1"/>
            <p:nvPr/>
          </p:nvSpPr>
          <p:spPr>
            <a:xfrm>
              <a:off x="6141975" y="953603"/>
              <a:ext cx="4713411" cy="22855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2050" lIns="78100" spcFirstLastPara="1" rIns="78100" wrap="square" tIns="520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100"/>
                <a:buFont typeface="Arial"/>
                <a:buNone/>
              </a:pPr>
              <a:r>
                <a:rPr b="0" i="0" lang="en-US" sz="4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Created by James McGugian &amp; Steven Foster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>
            <p:ph type="title"/>
          </p:nvPr>
        </p:nvSpPr>
        <p:spPr>
          <a:xfrm>
            <a:off x="761800" y="762001"/>
            <a:ext cx="5334197" cy="17082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>
                <a:latin typeface="Play"/>
                <a:ea typeface="Play"/>
                <a:cs typeface="Play"/>
                <a:sym typeface="Play"/>
              </a:rPr>
              <a:t>Who We Are</a:t>
            </a:r>
            <a:endParaRPr sz="4000"/>
          </a:p>
        </p:txBody>
      </p:sp>
      <p:sp>
        <p:nvSpPr>
          <p:cNvPr id="112" name="Google Shape;112;p15"/>
          <p:cNvSpPr txBox="1"/>
          <p:nvPr>
            <p:ph idx="1" type="body"/>
          </p:nvPr>
        </p:nvSpPr>
        <p:spPr>
          <a:xfrm>
            <a:off x="761800" y="2470244"/>
            <a:ext cx="5334197" cy="3769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Play"/>
                <a:ea typeface="Play"/>
                <a:cs typeface="Play"/>
                <a:sym typeface="Play"/>
              </a:rPr>
              <a:t>We created Recspicy to simplify recipe and meal planning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Play"/>
                <a:ea typeface="Play"/>
                <a:cs typeface="Play"/>
                <a:sym typeface="Play"/>
              </a:rPr>
              <a:t>Our goal: a platform that's easy to access and manage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Play"/>
                <a:ea typeface="Play"/>
                <a:cs typeface="Play"/>
                <a:sym typeface="Play"/>
              </a:rPr>
              <a:t>Making cooking and sharing recipes easy for everyone</a:t>
            </a:r>
            <a:endParaRPr sz="2000"/>
          </a:p>
        </p:txBody>
      </p:sp>
      <p:pic>
        <p:nvPicPr>
          <p:cNvPr descr="Cooked food with ingredients on a table" id="113" name="Google Shape;113;p15"/>
          <p:cNvPicPr preferRelativeResize="0"/>
          <p:nvPr/>
        </p:nvPicPr>
        <p:blipFill rotWithShape="1">
          <a:blip r:embed="rId3">
            <a:alphaModFix/>
          </a:blip>
          <a:srcRect b="2" l="28004" r="13169" t="0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noFill/>
          <a:ln>
            <a:noFill/>
          </a:ln>
          <a:effectLst>
            <a:outerShdw blurRad="127000" sx="99000" rotWithShape="0" algn="r" dir="10800000" dist="50800" sy="99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6"/>
          <p:cNvSpPr/>
          <p:nvPr/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0F4861"/>
              </a:gs>
            </a:gsLst>
            <a:lin ang="197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6"/>
          <p:cNvSpPr/>
          <p:nvPr/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47843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6"/>
          <p:cNvSpPr/>
          <p:nvPr/>
        </p:nvSpPr>
        <p:spPr>
          <a:xfrm flipH="1" rot="-5400000">
            <a:off x="5010646" y="-5010043"/>
            <a:ext cx="2170709" cy="12192000"/>
          </a:xfrm>
          <a:prstGeom prst="rect">
            <a:avLst/>
          </a:prstGeom>
          <a:gradFill>
            <a:gsLst>
              <a:gs pos="0">
                <a:srgbClr val="0F4861">
                  <a:alpha val="15686"/>
                </a:srgbClr>
              </a:gs>
              <a:gs pos="23000">
                <a:srgbClr val="0F4861">
                  <a:alpha val="15686"/>
                </a:srgbClr>
              </a:gs>
              <a:gs pos="99000">
                <a:srgbClr val="000000">
                  <a:alpha val="44705"/>
                </a:srgbClr>
              </a:gs>
              <a:gs pos="100000">
                <a:srgbClr val="000000">
                  <a:alpha val="44705"/>
                </a:srgbClr>
              </a:gs>
            </a:gsLst>
            <a:lin ang="210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6"/>
          <p:cNvSpPr txBox="1"/>
          <p:nvPr>
            <p:ph type="title"/>
          </p:nvPr>
        </p:nvSpPr>
        <p:spPr>
          <a:xfrm>
            <a:off x="1383564" y="348865"/>
            <a:ext cx="9718111" cy="15764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n-US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What We Made</a:t>
            </a:r>
            <a:endParaRPr sz="4000">
              <a:solidFill>
                <a:srgbClr val="FFFFFF"/>
              </a:solidFill>
            </a:endParaRPr>
          </a:p>
        </p:txBody>
      </p:sp>
      <p:grpSp>
        <p:nvGrpSpPr>
          <p:cNvPr id="123" name="Google Shape;123;p16"/>
          <p:cNvGrpSpPr/>
          <p:nvPr/>
        </p:nvGrpSpPr>
        <p:grpSpPr>
          <a:xfrm>
            <a:off x="644056" y="3322650"/>
            <a:ext cx="10927828" cy="2276061"/>
            <a:chOff x="0" y="706671"/>
            <a:chExt cx="10927828" cy="2276061"/>
          </a:xfrm>
        </p:grpSpPr>
        <p:sp>
          <p:nvSpPr>
            <p:cNvPr id="124" name="Google Shape;124;p16"/>
            <p:cNvSpPr/>
            <p:nvPr/>
          </p:nvSpPr>
          <p:spPr>
            <a:xfrm>
              <a:off x="0" y="706671"/>
              <a:ext cx="3073451" cy="1951641"/>
            </a:xfrm>
            <a:prstGeom prst="roundRect">
              <a:avLst>
                <a:gd fmla="val 10000" name="adj"/>
              </a:avLst>
            </a:prstGeom>
            <a:solidFill>
              <a:srgbClr val="0B2741"/>
            </a:solidFill>
            <a:ln cap="flat" cmpd="sng" w="1905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6"/>
            <p:cNvSpPr/>
            <p:nvPr/>
          </p:nvSpPr>
          <p:spPr>
            <a:xfrm>
              <a:off x="341494" y="1031091"/>
              <a:ext cx="3073451" cy="1951641"/>
            </a:xfrm>
            <a:prstGeom prst="roundRect">
              <a:avLst>
                <a:gd fmla="val 10000" name="adj"/>
              </a:avLst>
            </a:prstGeom>
            <a:solidFill>
              <a:schemeClr val="lt2">
                <a:alpha val="89803"/>
              </a:schemeClr>
            </a:solidFill>
            <a:ln cap="flat" cmpd="sng" w="19050">
              <a:solidFill>
                <a:srgbClr val="0B274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6"/>
            <p:cNvSpPr txBox="1"/>
            <p:nvPr/>
          </p:nvSpPr>
          <p:spPr>
            <a:xfrm>
              <a:off x="398656" y="1088253"/>
              <a:ext cx="2959127" cy="18373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 user-friendly recipe management and meal planning website</a:t>
              </a:r>
              <a:endParaRPr/>
            </a:p>
          </p:txBody>
        </p:sp>
        <p:sp>
          <p:nvSpPr>
            <p:cNvPr id="127" name="Google Shape;127;p16"/>
            <p:cNvSpPr/>
            <p:nvPr/>
          </p:nvSpPr>
          <p:spPr>
            <a:xfrm>
              <a:off x="3756441" y="706671"/>
              <a:ext cx="3073451" cy="1951641"/>
            </a:xfrm>
            <a:prstGeom prst="roundRect">
              <a:avLst>
                <a:gd fmla="val 10000" name="adj"/>
              </a:avLst>
            </a:prstGeom>
            <a:solidFill>
              <a:srgbClr val="0B2741"/>
            </a:solidFill>
            <a:ln cap="flat" cmpd="sng" w="1905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6"/>
            <p:cNvSpPr/>
            <p:nvPr/>
          </p:nvSpPr>
          <p:spPr>
            <a:xfrm>
              <a:off x="4097935" y="1031091"/>
              <a:ext cx="3073451" cy="1951641"/>
            </a:xfrm>
            <a:prstGeom prst="roundRect">
              <a:avLst>
                <a:gd fmla="val 10000" name="adj"/>
              </a:avLst>
            </a:prstGeom>
            <a:solidFill>
              <a:schemeClr val="lt2">
                <a:alpha val="89803"/>
              </a:schemeClr>
            </a:solidFill>
            <a:ln cap="flat" cmpd="sng" w="19050">
              <a:solidFill>
                <a:srgbClr val="0B274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6"/>
            <p:cNvSpPr txBox="1"/>
            <p:nvPr/>
          </p:nvSpPr>
          <p:spPr>
            <a:xfrm>
              <a:off x="4155097" y="1088253"/>
              <a:ext cx="2959127" cy="18373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Designed for easy navigation, customization, and privacy</a:t>
              </a:r>
              <a:endParaRPr/>
            </a:p>
          </p:txBody>
        </p:sp>
        <p:sp>
          <p:nvSpPr>
            <p:cNvPr id="130" name="Google Shape;130;p16"/>
            <p:cNvSpPr/>
            <p:nvPr/>
          </p:nvSpPr>
          <p:spPr>
            <a:xfrm>
              <a:off x="7512882" y="706671"/>
              <a:ext cx="3073451" cy="1951641"/>
            </a:xfrm>
            <a:prstGeom prst="roundRect">
              <a:avLst>
                <a:gd fmla="val 10000" name="adj"/>
              </a:avLst>
            </a:prstGeom>
            <a:solidFill>
              <a:srgbClr val="0B2741"/>
            </a:solidFill>
            <a:ln cap="flat" cmpd="sng" w="1905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6"/>
            <p:cNvSpPr/>
            <p:nvPr/>
          </p:nvSpPr>
          <p:spPr>
            <a:xfrm>
              <a:off x="7854377" y="1031091"/>
              <a:ext cx="3073451" cy="1951641"/>
            </a:xfrm>
            <a:prstGeom prst="roundRect">
              <a:avLst>
                <a:gd fmla="val 10000" name="adj"/>
              </a:avLst>
            </a:prstGeom>
            <a:solidFill>
              <a:schemeClr val="lt2">
                <a:alpha val="89803"/>
              </a:schemeClr>
            </a:solidFill>
            <a:ln cap="flat" cmpd="sng" w="19050">
              <a:solidFill>
                <a:srgbClr val="0B274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6"/>
            <p:cNvSpPr txBox="1"/>
            <p:nvPr/>
          </p:nvSpPr>
          <p:spPr>
            <a:xfrm>
              <a:off x="7911539" y="1088253"/>
              <a:ext cx="2959127" cy="18373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Create, store, and share recipes, plus plan meals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7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7"/>
          <p:cNvSpPr/>
          <p:nvPr/>
        </p:nvSpPr>
        <p:spPr>
          <a:xfrm flipH="1" rot="10800000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7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3000">
                <a:srgbClr val="156082">
                  <a:alpha val="0"/>
                </a:srgbClr>
              </a:gs>
              <a:gs pos="99000">
                <a:srgbClr val="000000">
                  <a:alpha val="73725"/>
                </a:srgbClr>
              </a:gs>
              <a:gs pos="100000">
                <a:srgbClr val="000000">
                  <a:alpha val="73725"/>
                </a:srgbClr>
              </a:gs>
            </a:gsLst>
            <a:lin ang="203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7"/>
          <p:cNvSpPr txBox="1"/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n-US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Why Recspicy?</a:t>
            </a:r>
            <a:endParaRPr sz="4000">
              <a:solidFill>
                <a:srgbClr val="FFFFFF"/>
              </a:solidFill>
            </a:endParaRPr>
          </a:p>
        </p:txBody>
      </p:sp>
      <p:grpSp>
        <p:nvGrpSpPr>
          <p:cNvPr id="142" name="Google Shape;142;p17"/>
          <p:cNvGrpSpPr/>
          <p:nvPr/>
        </p:nvGrpSpPr>
        <p:grpSpPr>
          <a:xfrm>
            <a:off x="4140961" y="2114626"/>
            <a:ext cx="3934018" cy="4188709"/>
            <a:chOff x="3496905" y="2047"/>
            <a:chExt cx="3934018" cy="4188709"/>
          </a:xfrm>
        </p:grpSpPr>
        <p:sp>
          <p:nvSpPr>
            <p:cNvPr id="143" name="Google Shape;143;p17"/>
            <p:cNvSpPr/>
            <p:nvPr/>
          </p:nvSpPr>
          <p:spPr>
            <a:xfrm>
              <a:off x="3496905" y="2047"/>
              <a:ext cx="3934018" cy="1351196"/>
            </a:xfrm>
            <a:prstGeom prst="roundRect">
              <a:avLst>
                <a:gd fmla="val 16667" name="adj"/>
              </a:avLst>
            </a:prstGeom>
            <a:solidFill>
              <a:srgbClr val="A02891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7"/>
            <p:cNvSpPr txBox="1"/>
            <p:nvPr/>
          </p:nvSpPr>
          <p:spPr>
            <a:xfrm>
              <a:off x="3562865" y="68007"/>
              <a:ext cx="3802098" cy="12192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525" lIns="99050" spcFirstLastPara="1" rIns="99050" wrap="square" tIns="495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Arial"/>
                <a:buNone/>
              </a:pPr>
              <a:r>
                <a:rPr b="0" i="0" lang="en-US" sz="2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Most recipe sites are cluttered and hard to use</a:t>
              </a:r>
              <a:endParaRPr/>
            </a:p>
          </p:txBody>
        </p:sp>
        <p:sp>
          <p:nvSpPr>
            <p:cNvPr id="145" name="Google Shape;145;p17"/>
            <p:cNvSpPr/>
            <p:nvPr/>
          </p:nvSpPr>
          <p:spPr>
            <a:xfrm>
              <a:off x="3496905" y="1420804"/>
              <a:ext cx="3934018" cy="1351196"/>
            </a:xfrm>
            <a:prstGeom prst="roundRect">
              <a:avLst>
                <a:gd fmla="val 16667" name="adj"/>
              </a:avLst>
            </a:prstGeom>
            <a:solidFill>
              <a:srgbClr val="2B6FA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7"/>
            <p:cNvSpPr txBox="1"/>
            <p:nvPr/>
          </p:nvSpPr>
          <p:spPr>
            <a:xfrm>
              <a:off x="3562865" y="1486764"/>
              <a:ext cx="3802098" cy="12192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525" lIns="99050" spcFirstLastPara="1" rIns="99050" wrap="square" tIns="495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Arial"/>
                <a:buNone/>
              </a:pPr>
              <a:r>
                <a:rPr b="0" i="0" lang="en-US" sz="2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We focused on user engagement and privacy</a:t>
              </a:r>
              <a:endParaRPr/>
            </a:p>
          </p:txBody>
        </p:sp>
        <p:sp>
          <p:nvSpPr>
            <p:cNvPr id="147" name="Google Shape;147;p17"/>
            <p:cNvSpPr/>
            <p:nvPr/>
          </p:nvSpPr>
          <p:spPr>
            <a:xfrm>
              <a:off x="3496905" y="2839560"/>
              <a:ext cx="3934018" cy="1351196"/>
            </a:xfrm>
            <a:prstGeom prst="roundRect">
              <a:avLst>
                <a:gd fmla="val 16667" name="adj"/>
              </a:avLst>
            </a:prstGeom>
            <a:solidFill>
              <a:srgbClr val="4CA62C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7"/>
            <p:cNvSpPr txBox="1"/>
            <p:nvPr/>
          </p:nvSpPr>
          <p:spPr>
            <a:xfrm>
              <a:off x="3562865" y="2905520"/>
              <a:ext cx="3802098" cy="12192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525" lIns="99050" spcFirstLastPara="1" rIns="99050" wrap="square" tIns="495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Arial"/>
                <a:buNone/>
              </a:pPr>
              <a:r>
                <a:rPr b="0" i="0" lang="en-US" sz="2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Build profiles, create meal plans, and share recipes comfortably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8"/>
          <p:cNvSpPr/>
          <p:nvPr/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0F4861"/>
              </a:gs>
            </a:gsLst>
            <a:lin ang="197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8"/>
          <p:cNvSpPr/>
          <p:nvPr/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47843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8"/>
          <p:cNvSpPr/>
          <p:nvPr/>
        </p:nvSpPr>
        <p:spPr>
          <a:xfrm flipH="1" rot="-5400000">
            <a:off x="5010646" y="-5010043"/>
            <a:ext cx="2170709" cy="12192000"/>
          </a:xfrm>
          <a:prstGeom prst="rect">
            <a:avLst/>
          </a:prstGeom>
          <a:gradFill>
            <a:gsLst>
              <a:gs pos="0">
                <a:srgbClr val="0F4861">
                  <a:alpha val="15686"/>
                </a:srgbClr>
              </a:gs>
              <a:gs pos="23000">
                <a:srgbClr val="0F4861">
                  <a:alpha val="15686"/>
                </a:srgbClr>
              </a:gs>
              <a:gs pos="99000">
                <a:srgbClr val="000000">
                  <a:alpha val="44705"/>
                </a:srgbClr>
              </a:gs>
              <a:gs pos="100000">
                <a:srgbClr val="000000">
                  <a:alpha val="44705"/>
                </a:srgbClr>
              </a:gs>
            </a:gsLst>
            <a:lin ang="210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8"/>
          <p:cNvSpPr txBox="1"/>
          <p:nvPr>
            <p:ph type="title"/>
          </p:nvPr>
        </p:nvSpPr>
        <p:spPr>
          <a:xfrm>
            <a:off x="1383564" y="348865"/>
            <a:ext cx="9718111" cy="15764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n-US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Project Goals</a:t>
            </a:r>
            <a:endParaRPr sz="4000">
              <a:solidFill>
                <a:srgbClr val="FFFFFF"/>
              </a:solidFill>
            </a:endParaRPr>
          </a:p>
        </p:txBody>
      </p:sp>
      <p:grpSp>
        <p:nvGrpSpPr>
          <p:cNvPr id="158" name="Google Shape;158;p18"/>
          <p:cNvGrpSpPr/>
          <p:nvPr/>
        </p:nvGrpSpPr>
        <p:grpSpPr>
          <a:xfrm>
            <a:off x="644909" y="2615979"/>
            <a:ext cx="10926121" cy="3689405"/>
            <a:chOff x="853" y="0"/>
            <a:chExt cx="10926121" cy="3689405"/>
          </a:xfrm>
        </p:grpSpPr>
        <p:sp>
          <p:nvSpPr>
            <p:cNvPr id="159" name="Google Shape;159;p18"/>
            <p:cNvSpPr/>
            <p:nvPr/>
          </p:nvSpPr>
          <p:spPr>
            <a:xfrm>
              <a:off x="853" y="0"/>
              <a:ext cx="3457633" cy="3689405"/>
            </a:xfrm>
            <a:prstGeom prst="rect">
              <a:avLst/>
            </a:prstGeom>
            <a:solidFill>
              <a:srgbClr val="E97131"/>
            </a:solidFill>
            <a:ln cap="flat" cmpd="sng" w="19050">
              <a:solidFill>
                <a:srgbClr val="E9713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8"/>
            <p:cNvSpPr txBox="1"/>
            <p:nvPr/>
          </p:nvSpPr>
          <p:spPr>
            <a:xfrm>
              <a:off x="853" y="1475762"/>
              <a:ext cx="3457633" cy="22136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341525" spcFirstLastPara="1" rIns="34152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Arial"/>
                <a:buNone/>
              </a:pPr>
              <a:r>
                <a:rPr b="0" i="0" lang="en-US" sz="2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Go beyond searching and printing recipes</a:t>
              </a:r>
              <a:endParaRPr/>
            </a:p>
          </p:txBody>
        </p:sp>
        <p:sp>
          <p:nvSpPr>
            <p:cNvPr id="161" name="Google Shape;161;p18"/>
            <p:cNvSpPr/>
            <p:nvPr/>
          </p:nvSpPr>
          <p:spPr>
            <a:xfrm>
              <a:off x="853" y="0"/>
              <a:ext cx="3457633" cy="14757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8"/>
            <p:cNvSpPr txBox="1"/>
            <p:nvPr/>
          </p:nvSpPr>
          <p:spPr>
            <a:xfrm>
              <a:off x="853" y="0"/>
              <a:ext cx="3457633" cy="14757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100" lIns="341525" spcFirstLastPara="1" rIns="341525" wrap="square" tIns="165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600"/>
                <a:buFont typeface="Arial"/>
                <a:buNone/>
              </a:pPr>
              <a:r>
                <a:rPr b="0" i="0" lang="en-US" sz="6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  <p:sp>
          <p:nvSpPr>
            <p:cNvPr id="163" name="Google Shape;163;p18"/>
            <p:cNvSpPr/>
            <p:nvPr/>
          </p:nvSpPr>
          <p:spPr>
            <a:xfrm>
              <a:off x="3735097" y="0"/>
              <a:ext cx="3457633" cy="3689405"/>
            </a:xfrm>
            <a:prstGeom prst="rect">
              <a:avLst/>
            </a:prstGeom>
            <a:solidFill>
              <a:srgbClr val="8CAF1D"/>
            </a:solidFill>
            <a:ln cap="flat" cmpd="sng" w="19050">
              <a:solidFill>
                <a:srgbClr val="8CAF1D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8"/>
            <p:cNvSpPr txBox="1"/>
            <p:nvPr/>
          </p:nvSpPr>
          <p:spPr>
            <a:xfrm>
              <a:off x="3735097" y="1475762"/>
              <a:ext cx="3457633" cy="22136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341525" spcFirstLastPara="1" rIns="34152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Arial"/>
                <a:buNone/>
              </a:pPr>
              <a:r>
                <a:rPr b="0" i="0" lang="en-US" sz="2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Engage users, save family recipes privately, share creations with the community</a:t>
              </a:r>
              <a:endParaRPr/>
            </a:p>
          </p:txBody>
        </p:sp>
        <p:sp>
          <p:nvSpPr>
            <p:cNvPr id="165" name="Google Shape;165;p18"/>
            <p:cNvSpPr/>
            <p:nvPr/>
          </p:nvSpPr>
          <p:spPr>
            <a:xfrm>
              <a:off x="3735097" y="0"/>
              <a:ext cx="3457633" cy="14757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8"/>
            <p:cNvSpPr txBox="1"/>
            <p:nvPr/>
          </p:nvSpPr>
          <p:spPr>
            <a:xfrm>
              <a:off x="3735097" y="0"/>
              <a:ext cx="3457633" cy="14757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100" lIns="341525" spcFirstLastPara="1" rIns="341525" wrap="square" tIns="165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600"/>
                <a:buFont typeface="Arial"/>
                <a:buNone/>
              </a:pPr>
              <a:r>
                <a:rPr b="0" i="0" lang="en-US" sz="6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/>
            </a:p>
          </p:txBody>
        </p:sp>
        <p:sp>
          <p:nvSpPr>
            <p:cNvPr id="167" name="Google Shape;167;p18"/>
            <p:cNvSpPr/>
            <p:nvPr/>
          </p:nvSpPr>
          <p:spPr>
            <a:xfrm>
              <a:off x="7469341" y="0"/>
              <a:ext cx="3457633" cy="3689405"/>
            </a:xfrm>
            <a:prstGeom prst="rect">
              <a:avLst/>
            </a:prstGeom>
            <a:solidFill>
              <a:srgbClr val="186923"/>
            </a:solidFill>
            <a:ln cap="flat" cmpd="sng" w="19050">
              <a:solidFill>
                <a:srgbClr val="18692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8"/>
            <p:cNvSpPr txBox="1"/>
            <p:nvPr/>
          </p:nvSpPr>
          <p:spPr>
            <a:xfrm>
              <a:off x="7469341" y="1475762"/>
              <a:ext cx="3457633" cy="22136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341525" spcFirstLastPara="1" rIns="34152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Arial"/>
                <a:buNone/>
              </a:pPr>
              <a:r>
                <a:rPr b="0" i="0" lang="en-US" sz="2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Support efficient recipe management and enjoyable meal prep</a:t>
              </a:r>
              <a:endParaRPr/>
            </a:p>
          </p:txBody>
        </p:sp>
        <p:sp>
          <p:nvSpPr>
            <p:cNvPr id="169" name="Google Shape;169;p18"/>
            <p:cNvSpPr/>
            <p:nvPr/>
          </p:nvSpPr>
          <p:spPr>
            <a:xfrm>
              <a:off x="7469341" y="0"/>
              <a:ext cx="3457633" cy="14757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8"/>
            <p:cNvSpPr txBox="1"/>
            <p:nvPr/>
          </p:nvSpPr>
          <p:spPr>
            <a:xfrm>
              <a:off x="7469341" y="0"/>
              <a:ext cx="3457633" cy="14757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5100" lIns="341525" spcFirstLastPara="1" rIns="341525" wrap="square" tIns="165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600"/>
                <a:buFont typeface="Arial"/>
                <a:buNone/>
              </a:pPr>
              <a:r>
                <a:rPr b="0" i="0" lang="en-US" sz="6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9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9"/>
          <p:cNvSpPr/>
          <p:nvPr/>
        </p:nvSpPr>
        <p:spPr>
          <a:xfrm flipH="1" rot="10800000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9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3000">
                <a:srgbClr val="156082">
                  <a:alpha val="0"/>
                </a:srgbClr>
              </a:gs>
              <a:gs pos="99000">
                <a:srgbClr val="000000">
                  <a:alpha val="73725"/>
                </a:srgbClr>
              </a:gs>
              <a:gs pos="100000">
                <a:srgbClr val="000000">
                  <a:alpha val="73725"/>
                </a:srgbClr>
              </a:gs>
            </a:gsLst>
            <a:lin ang="203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9"/>
          <p:cNvSpPr txBox="1"/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n-US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System Overview</a:t>
            </a:r>
            <a:endParaRPr sz="4000">
              <a:solidFill>
                <a:srgbClr val="FFFFFF"/>
              </a:solidFill>
            </a:endParaRPr>
          </a:p>
        </p:txBody>
      </p:sp>
      <p:grpSp>
        <p:nvGrpSpPr>
          <p:cNvPr id="180" name="Google Shape;180;p19"/>
          <p:cNvGrpSpPr/>
          <p:nvPr/>
        </p:nvGrpSpPr>
        <p:grpSpPr>
          <a:xfrm>
            <a:off x="737501" y="2566481"/>
            <a:ext cx="10740938" cy="3285000"/>
            <a:chOff x="93445" y="453902"/>
            <a:chExt cx="10740938" cy="3285000"/>
          </a:xfrm>
        </p:grpSpPr>
        <p:sp>
          <p:nvSpPr>
            <p:cNvPr id="181" name="Google Shape;181;p19"/>
            <p:cNvSpPr/>
            <p:nvPr/>
          </p:nvSpPr>
          <p:spPr>
            <a:xfrm>
              <a:off x="718664" y="453902"/>
              <a:ext cx="1955812" cy="1955812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9"/>
            <p:cNvSpPr/>
            <p:nvPr/>
          </p:nvSpPr>
          <p:spPr>
            <a:xfrm>
              <a:off x="1135476" y="870714"/>
              <a:ext cx="1122187" cy="112218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9"/>
            <p:cNvSpPr/>
            <p:nvPr/>
          </p:nvSpPr>
          <p:spPr>
            <a:xfrm>
              <a:off x="93445" y="3018902"/>
              <a:ext cx="3206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9"/>
            <p:cNvSpPr txBox="1"/>
            <p:nvPr/>
          </p:nvSpPr>
          <p:spPr>
            <a:xfrm>
              <a:off x="93445" y="3018902"/>
              <a:ext cx="3206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BUILT WITH HTML, CSS, AND JAVASCRIPT FRONTEND</a:t>
              </a:r>
              <a:endParaRPr/>
            </a:p>
          </p:txBody>
        </p:sp>
        <p:sp>
          <p:nvSpPr>
            <p:cNvPr id="185" name="Google Shape;185;p19"/>
            <p:cNvSpPr/>
            <p:nvPr/>
          </p:nvSpPr>
          <p:spPr>
            <a:xfrm>
              <a:off x="4486008" y="453902"/>
              <a:ext cx="1955812" cy="1955812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9"/>
            <p:cNvSpPr/>
            <p:nvPr/>
          </p:nvSpPr>
          <p:spPr>
            <a:xfrm>
              <a:off x="4902820" y="870714"/>
              <a:ext cx="1122187" cy="112218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9"/>
            <p:cNvSpPr/>
            <p:nvPr/>
          </p:nvSpPr>
          <p:spPr>
            <a:xfrm>
              <a:off x="3860789" y="3018902"/>
              <a:ext cx="3206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9"/>
            <p:cNvSpPr txBox="1"/>
            <p:nvPr/>
          </p:nvSpPr>
          <p:spPr>
            <a:xfrm>
              <a:off x="3860789" y="3018902"/>
              <a:ext cx="3206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NODE.JS AND EXPRESS BACKEND, MONGODB/ATLAS FOR STORAGE</a:t>
              </a:r>
              <a:endParaRPr/>
            </a:p>
          </p:txBody>
        </p:sp>
        <p:sp>
          <p:nvSpPr>
            <p:cNvPr id="189" name="Google Shape;189;p19"/>
            <p:cNvSpPr/>
            <p:nvPr/>
          </p:nvSpPr>
          <p:spPr>
            <a:xfrm>
              <a:off x="8253352" y="453902"/>
              <a:ext cx="1955812" cy="1955812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9"/>
            <p:cNvSpPr/>
            <p:nvPr/>
          </p:nvSpPr>
          <p:spPr>
            <a:xfrm>
              <a:off x="8670164" y="870714"/>
              <a:ext cx="1122187" cy="112218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9"/>
            <p:cNvSpPr/>
            <p:nvPr/>
          </p:nvSpPr>
          <p:spPr>
            <a:xfrm>
              <a:off x="7628133" y="3018902"/>
              <a:ext cx="3206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9"/>
            <p:cNvSpPr txBox="1"/>
            <p:nvPr/>
          </p:nvSpPr>
          <p:spPr>
            <a:xfrm>
              <a:off x="7628133" y="3018902"/>
              <a:ext cx="3206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RESTFUL ARCHITECTURE FOR SECURE, SCALABLE, DYNAMIC DATABASE INTERACTION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sz="4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Document Overview</a:t>
            </a:r>
            <a:endParaRPr/>
          </a:p>
        </p:txBody>
      </p:sp>
      <p:grpSp>
        <p:nvGrpSpPr>
          <p:cNvPr id="198" name="Google Shape;198;p20"/>
          <p:cNvGrpSpPr/>
          <p:nvPr/>
        </p:nvGrpSpPr>
        <p:grpSpPr>
          <a:xfrm>
            <a:off x="838200" y="1826156"/>
            <a:ext cx="10515600" cy="4350274"/>
            <a:chOff x="0" y="531"/>
            <a:chExt cx="10515600" cy="4350274"/>
          </a:xfrm>
        </p:grpSpPr>
        <p:sp>
          <p:nvSpPr>
            <p:cNvPr id="199" name="Google Shape;199;p20"/>
            <p:cNvSpPr/>
            <p:nvPr/>
          </p:nvSpPr>
          <p:spPr>
            <a:xfrm>
              <a:off x="0" y="531"/>
              <a:ext cx="10515600" cy="1242935"/>
            </a:xfrm>
            <a:prstGeom prst="roundRect">
              <a:avLst>
                <a:gd fmla="val 10000" name="adj"/>
              </a:avLst>
            </a:prstGeom>
            <a:solidFill>
              <a:srgbClr val="CAD1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0"/>
            <p:cNvSpPr/>
            <p:nvPr/>
          </p:nvSpPr>
          <p:spPr>
            <a:xfrm>
              <a:off x="375988" y="280191"/>
              <a:ext cx="683614" cy="683614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0"/>
            <p:cNvSpPr/>
            <p:nvPr/>
          </p:nvSpPr>
          <p:spPr>
            <a:xfrm>
              <a:off x="1435590" y="531"/>
              <a:ext cx="9080009" cy="1242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0"/>
            <p:cNvSpPr txBox="1"/>
            <p:nvPr/>
          </p:nvSpPr>
          <p:spPr>
            <a:xfrm>
              <a:off x="1435590" y="531"/>
              <a:ext cx="9080009" cy="1242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1525" lIns="131525" spcFirstLastPara="1" rIns="131525" wrap="square" tIns="13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User guide for users, developers, and administrators</a:t>
              </a:r>
              <a:endParaRPr/>
            </a:p>
          </p:txBody>
        </p:sp>
        <p:sp>
          <p:nvSpPr>
            <p:cNvPr id="203" name="Google Shape;203;p20"/>
            <p:cNvSpPr/>
            <p:nvPr/>
          </p:nvSpPr>
          <p:spPr>
            <a:xfrm>
              <a:off x="0" y="1554201"/>
              <a:ext cx="10515600" cy="1242935"/>
            </a:xfrm>
            <a:prstGeom prst="roundRect">
              <a:avLst>
                <a:gd fmla="val 10000" name="adj"/>
              </a:avLst>
            </a:prstGeom>
            <a:solidFill>
              <a:srgbClr val="CAD1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0"/>
            <p:cNvSpPr/>
            <p:nvPr/>
          </p:nvSpPr>
          <p:spPr>
            <a:xfrm>
              <a:off x="375988" y="1833861"/>
              <a:ext cx="683614" cy="683614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0"/>
            <p:cNvSpPr/>
            <p:nvPr/>
          </p:nvSpPr>
          <p:spPr>
            <a:xfrm>
              <a:off x="1435590" y="1554201"/>
              <a:ext cx="9080009" cy="1242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0"/>
            <p:cNvSpPr txBox="1"/>
            <p:nvPr/>
          </p:nvSpPr>
          <p:spPr>
            <a:xfrm>
              <a:off x="1435590" y="1554201"/>
              <a:ext cx="9080009" cy="1242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1525" lIns="131525" spcFirstLastPara="1" rIns="131525" wrap="square" tIns="13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Includes technical details, navigation, and best practices</a:t>
              </a:r>
              <a:endParaRPr/>
            </a:p>
          </p:txBody>
        </p:sp>
        <p:sp>
          <p:nvSpPr>
            <p:cNvPr id="207" name="Google Shape;207;p20"/>
            <p:cNvSpPr/>
            <p:nvPr/>
          </p:nvSpPr>
          <p:spPr>
            <a:xfrm>
              <a:off x="0" y="3107870"/>
              <a:ext cx="10515600" cy="1242935"/>
            </a:xfrm>
            <a:prstGeom prst="roundRect">
              <a:avLst>
                <a:gd fmla="val 10000" name="adj"/>
              </a:avLst>
            </a:prstGeom>
            <a:solidFill>
              <a:srgbClr val="CAD1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0"/>
            <p:cNvSpPr/>
            <p:nvPr/>
          </p:nvSpPr>
          <p:spPr>
            <a:xfrm>
              <a:off x="375988" y="3387531"/>
              <a:ext cx="683614" cy="683614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0"/>
            <p:cNvSpPr/>
            <p:nvPr/>
          </p:nvSpPr>
          <p:spPr>
            <a:xfrm>
              <a:off x="1435590" y="3107870"/>
              <a:ext cx="9080009" cy="1242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0"/>
            <p:cNvSpPr txBox="1"/>
            <p:nvPr/>
          </p:nvSpPr>
          <p:spPr>
            <a:xfrm>
              <a:off x="1435590" y="3107870"/>
              <a:ext cx="9080009" cy="1242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1525" lIns="131525" spcFirstLastPara="1" rIns="131525" wrap="square" tIns="13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Screenshots and diagrams clarify key processes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1"/>
          <p:cNvSpPr txBox="1"/>
          <p:nvPr>
            <p:ph type="title"/>
          </p:nvPr>
        </p:nvSpPr>
        <p:spPr>
          <a:xfrm>
            <a:off x="5868557" y="1138036"/>
            <a:ext cx="5444382" cy="1402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en-US" sz="3200">
                <a:latin typeface="Play"/>
                <a:ea typeface="Play"/>
                <a:cs typeface="Play"/>
                <a:sym typeface="Play"/>
              </a:rPr>
              <a:t>System Description</a:t>
            </a:r>
            <a:endParaRPr sz="3200"/>
          </a:p>
        </p:txBody>
      </p:sp>
      <p:pic>
        <p:nvPicPr>
          <p:cNvPr descr="Blue blocks and networks technology background" id="216" name="Google Shape;216;p21"/>
          <p:cNvPicPr preferRelativeResize="0"/>
          <p:nvPr/>
        </p:nvPicPr>
        <p:blipFill rotWithShape="1">
          <a:blip r:embed="rId3">
            <a:alphaModFix/>
          </a:blip>
          <a:srcRect b="-445" l="13419" r="44330" t="0"/>
          <a:stretch/>
        </p:blipFill>
        <p:spPr>
          <a:xfrm>
            <a:off x="-1" y="10"/>
            <a:ext cx="5151179" cy="68579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7" name="Google Shape;217;p21"/>
          <p:cNvCxnSpPr/>
          <p:nvPr/>
        </p:nvCxnSpPr>
        <p:spPr>
          <a:xfrm>
            <a:off x="5971697" y="871146"/>
            <a:ext cx="736939" cy="0"/>
          </a:xfrm>
          <a:prstGeom prst="straightConnector1">
            <a:avLst/>
          </a:prstGeom>
          <a:noFill/>
          <a:ln cap="flat" cmpd="sng" w="5715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8" name="Google Shape;218;p21"/>
          <p:cNvSpPr txBox="1"/>
          <p:nvPr>
            <p:ph idx="1" type="body"/>
          </p:nvPr>
        </p:nvSpPr>
        <p:spPr>
          <a:xfrm>
            <a:off x="5868557" y="2551176"/>
            <a:ext cx="5444382" cy="3591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Play"/>
                <a:ea typeface="Play"/>
                <a:cs typeface="Play"/>
                <a:sym typeface="Play"/>
              </a:rPr>
              <a:t>Client-server architecture for smooth user experience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Play"/>
                <a:ea typeface="Play"/>
                <a:cs typeface="Play"/>
                <a:sym typeface="Play"/>
              </a:rPr>
              <a:t>Secure user authentication, including Google SSO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Play"/>
                <a:ea typeface="Play"/>
                <a:cs typeface="Play"/>
                <a:sym typeface="Play"/>
              </a:rPr>
              <a:t>Admin tools and analytics ensure improvement and safety</a:t>
            </a:r>
            <a:endParaRPr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2"/>
          <p:cNvSpPr/>
          <p:nvPr/>
        </p:nvSpPr>
        <p:spPr>
          <a:xfrm>
            <a:off x="0" y="8313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479394" y="1070800"/>
            <a:ext cx="3939688" cy="5583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Play"/>
              <a:buNone/>
            </a:pPr>
            <a:r>
              <a:rPr lang="en-US" sz="8000">
                <a:latin typeface="Play"/>
                <a:ea typeface="Play"/>
                <a:cs typeface="Play"/>
                <a:sym typeface="Play"/>
              </a:rPr>
              <a:t>Key Features</a:t>
            </a:r>
            <a:endParaRPr sz="8000"/>
          </a:p>
        </p:txBody>
      </p:sp>
      <p:cxnSp>
        <p:nvCxnSpPr>
          <p:cNvPr id="225" name="Google Shape;225;p22"/>
          <p:cNvCxnSpPr/>
          <p:nvPr/>
        </p:nvCxnSpPr>
        <p:spPr>
          <a:xfrm>
            <a:off x="4728053" y="1132114"/>
            <a:ext cx="0" cy="5717573"/>
          </a:xfrm>
          <a:prstGeom prst="straightConnector1">
            <a:avLst/>
          </a:prstGeom>
          <a:noFill/>
          <a:ln cap="sq" cmpd="sng" w="25400">
            <a:solidFill>
              <a:schemeClr val="accent1"/>
            </a:solidFill>
            <a:prstDash val="solid"/>
            <a:bevel/>
            <a:headEnd len="sm" w="sm" type="none"/>
            <a:tailEnd len="sm" w="sm" type="none"/>
          </a:ln>
        </p:spPr>
      </p:cxnSp>
      <p:grpSp>
        <p:nvGrpSpPr>
          <p:cNvPr id="226" name="Google Shape;226;p22"/>
          <p:cNvGrpSpPr/>
          <p:nvPr/>
        </p:nvGrpSpPr>
        <p:grpSpPr>
          <a:xfrm>
            <a:off x="5108535" y="1071482"/>
            <a:ext cx="6245265" cy="5587982"/>
            <a:chOff x="0" y="682"/>
            <a:chExt cx="6245265" cy="5587982"/>
          </a:xfrm>
        </p:grpSpPr>
        <p:sp>
          <p:nvSpPr>
            <p:cNvPr id="227" name="Google Shape;227;p22"/>
            <p:cNvSpPr/>
            <p:nvPr/>
          </p:nvSpPr>
          <p:spPr>
            <a:xfrm>
              <a:off x="0" y="682"/>
              <a:ext cx="6245265" cy="1596566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2"/>
            <p:cNvSpPr/>
            <p:nvPr/>
          </p:nvSpPr>
          <p:spPr>
            <a:xfrm>
              <a:off x="482961" y="359909"/>
              <a:ext cx="878111" cy="878111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22"/>
            <p:cNvSpPr/>
            <p:nvPr/>
          </p:nvSpPr>
          <p:spPr>
            <a:xfrm>
              <a:off x="1844034" y="682"/>
              <a:ext cx="4401230" cy="1596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2"/>
            <p:cNvSpPr txBox="1"/>
            <p:nvPr/>
          </p:nvSpPr>
          <p:spPr>
            <a:xfrm>
              <a:off x="1844034" y="682"/>
              <a:ext cx="4401230" cy="1596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8950" lIns="168950" spcFirstLastPara="1" rIns="168950" wrap="square" tIns="168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User authentication with profile creation</a:t>
              </a:r>
              <a:endParaRPr/>
            </a:p>
          </p:txBody>
        </p:sp>
        <p:sp>
          <p:nvSpPr>
            <p:cNvPr id="231" name="Google Shape;231;p22"/>
            <p:cNvSpPr/>
            <p:nvPr/>
          </p:nvSpPr>
          <p:spPr>
            <a:xfrm>
              <a:off x="0" y="1996390"/>
              <a:ext cx="6245265" cy="1596566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22"/>
            <p:cNvSpPr/>
            <p:nvPr/>
          </p:nvSpPr>
          <p:spPr>
            <a:xfrm>
              <a:off x="482961" y="2355617"/>
              <a:ext cx="878111" cy="878111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2"/>
            <p:cNvSpPr/>
            <p:nvPr/>
          </p:nvSpPr>
          <p:spPr>
            <a:xfrm>
              <a:off x="1844034" y="1996390"/>
              <a:ext cx="4401230" cy="1596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2"/>
            <p:cNvSpPr txBox="1"/>
            <p:nvPr/>
          </p:nvSpPr>
          <p:spPr>
            <a:xfrm>
              <a:off x="1844034" y="1996390"/>
              <a:ext cx="4401230" cy="1596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8950" lIns="168950" spcFirstLastPara="1" rIns="168950" wrap="square" tIns="168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Recipe management: create, edit, search, organize</a:t>
              </a:r>
              <a:endParaRPr/>
            </a:p>
          </p:txBody>
        </p:sp>
        <p:sp>
          <p:nvSpPr>
            <p:cNvPr id="235" name="Google Shape;235;p22"/>
            <p:cNvSpPr/>
            <p:nvPr/>
          </p:nvSpPr>
          <p:spPr>
            <a:xfrm>
              <a:off x="0" y="3992098"/>
              <a:ext cx="6245265" cy="1596566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2"/>
            <p:cNvSpPr/>
            <p:nvPr/>
          </p:nvSpPr>
          <p:spPr>
            <a:xfrm>
              <a:off x="482961" y="4351325"/>
              <a:ext cx="878111" cy="878111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2"/>
            <p:cNvSpPr/>
            <p:nvPr/>
          </p:nvSpPr>
          <p:spPr>
            <a:xfrm>
              <a:off x="1844034" y="3992098"/>
              <a:ext cx="4401230" cy="1596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2"/>
            <p:cNvSpPr txBox="1"/>
            <p:nvPr/>
          </p:nvSpPr>
          <p:spPr>
            <a:xfrm>
              <a:off x="1844034" y="3992098"/>
              <a:ext cx="4401230" cy="1596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8950" lIns="168950" spcFirstLastPara="1" rIns="168950" wrap="square" tIns="168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Meal planner, favorites system, admin dashboard, JWT security</a:t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3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3"/>
          <p:cNvSpPr/>
          <p:nvPr/>
        </p:nvSpPr>
        <p:spPr>
          <a:xfrm flipH="1" rot="10800000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3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3000">
                <a:srgbClr val="156082">
                  <a:alpha val="0"/>
                </a:srgbClr>
              </a:gs>
              <a:gs pos="99000">
                <a:srgbClr val="000000">
                  <a:alpha val="73725"/>
                </a:srgbClr>
              </a:gs>
              <a:gs pos="100000">
                <a:srgbClr val="000000">
                  <a:alpha val="73725"/>
                </a:srgbClr>
              </a:gs>
            </a:gsLst>
            <a:lin ang="203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3"/>
          <p:cNvSpPr txBox="1"/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n-US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Software &amp; Hardware Requirements</a:t>
            </a:r>
            <a:endParaRPr sz="4000">
              <a:solidFill>
                <a:srgbClr val="FFFFFF"/>
              </a:solidFill>
            </a:endParaRPr>
          </a:p>
        </p:txBody>
      </p:sp>
      <p:grpSp>
        <p:nvGrpSpPr>
          <p:cNvPr id="248" name="Google Shape;248;p23"/>
          <p:cNvGrpSpPr/>
          <p:nvPr/>
        </p:nvGrpSpPr>
        <p:grpSpPr>
          <a:xfrm>
            <a:off x="737501" y="2566481"/>
            <a:ext cx="10740938" cy="3285000"/>
            <a:chOff x="93445" y="453902"/>
            <a:chExt cx="10740938" cy="3285000"/>
          </a:xfrm>
        </p:grpSpPr>
        <p:sp>
          <p:nvSpPr>
            <p:cNvPr id="249" name="Google Shape;249;p23"/>
            <p:cNvSpPr/>
            <p:nvPr/>
          </p:nvSpPr>
          <p:spPr>
            <a:xfrm>
              <a:off x="718664" y="453902"/>
              <a:ext cx="1955812" cy="1955812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3"/>
            <p:cNvSpPr/>
            <p:nvPr/>
          </p:nvSpPr>
          <p:spPr>
            <a:xfrm>
              <a:off x="1135476" y="870714"/>
              <a:ext cx="1122187" cy="112218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3"/>
            <p:cNvSpPr/>
            <p:nvPr/>
          </p:nvSpPr>
          <p:spPr>
            <a:xfrm>
              <a:off x="93445" y="3018902"/>
              <a:ext cx="3206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3"/>
            <p:cNvSpPr txBox="1"/>
            <p:nvPr/>
          </p:nvSpPr>
          <p:spPr>
            <a:xfrm>
              <a:off x="93445" y="3018902"/>
              <a:ext cx="3206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RUNS ON ANY STANDARD WEB BROWSER WITH INTERNET</a:t>
              </a:r>
              <a:endParaRPr/>
            </a:p>
          </p:txBody>
        </p:sp>
        <p:sp>
          <p:nvSpPr>
            <p:cNvPr id="253" name="Google Shape;253;p23"/>
            <p:cNvSpPr/>
            <p:nvPr/>
          </p:nvSpPr>
          <p:spPr>
            <a:xfrm>
              <a:off x="4486008" y="453902"/>
              <a:ext cx="1955812" cy="1955812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3"/>
            <p:cNvSpPr/>
            <p:nvPr/>
          </p:nvSpPr>
          <p:spPr>
            <a:xfrm>
              <a:off x="4902820" y="870714"/>
              <a:ext cx="1122187" cy="112218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3"/>
            <p:cNvSpPr/>
            <p:nvPr/>
          </p:nvSpPr>
          <p:spPr>
            <a:xfrm>
              <a:off x="3860789" y="3018902"/>
              <a:ext cx="3206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3"/>
            <p:cNvSpPr txBox="1"/>
            <p:nvPr/>
          </p:nvSpPr>
          <p:spPr>
            <a:xfrm>
              <a:off x="3860789" y="3018902"/>
              <a:ext cx="3206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DEVELOPERS NEED NODE.JS, MONGODB, ~2GB RAM FOR LARGE DATABASES</a:t>
              </a:r>
              <a:endParaRPr/>
            </a:p>
          </p:txBody>
        </p:sp>
        <p:sp>
          <p:nvSpPr>
            <p:cNvPr id="257" name="Google Shape;257;p23"/>
            <p:cNvSpPr/>
            <p:nvPr/>
          </p:nvSpPr>
          <p:spPr>
            <a:xfrm>
              <a:off x="8253352" y="453902"/>
              <a:ext cx="1955812" cy="1955812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3"/>
            <p:cNvSpPr/>
            <p:nvPr/>
          </p:nvSpPr>
          <p:spPr>
            <a:xfrm>
              <a:off x="8670164" y="870714"/>
              <a:ext cx="1122187" cy="112218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3"/>
            <p:cNvSpPr/>
            <p:nvPr/>
          </p:nvSpPr>
          <p:spPr>
            <a:xfrm>
              <a:off x="7628133" y="3018902"/>
              <a:ext cx="3206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3"/>
            <p:cNvSpPr txBox="1"/>
            <p:nvPr/>
          </p:nvSpPr>
          <p:spPr>
            <a:xfrm>
              <a:off x="7628133" y="3018902"/>
              <a:ext cx="3206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GITHUB FOR VERSION CONTROL, RESTFUL APIS FOR COMMUNICATION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sz="4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Accessing the System</a:t>
            </a:r>
            <a:endParaRPr/>
          </a:p>
        </p:txBody>
      </p:sp>
      <p:grpSp>
        <p:nvGrpSpPr>
          <p:cNvPr id="266" name="Google Shape;266;p24"/>
          <p:cNvGrpSpPr/>
          <p:nvPr/>
        </p:nvGrpSpPr>
        <p:grpSpPr>
          <a:xfrm>
            <a:off x="838200" y="1826156"/>
            <a:ext cx="10515600" cy="4350274"/>
            <a:chOff x="0" y="531"/>
            <a:chExt cx="10515600" cy="4350274"/>
          </a:xfrm>
        </p:grpSpPr>
        <p:sp>
          <p:nvSpPr>
            <p:cNvPr id="267" name="Google Shape;267;p24"/>
            <p:cNvSpPr/>
            <p:nvPr/>
          </p:nvSpPr>
          <p:spPr>
            <a:xfrm>
              <a:off x="0" y="531"/>
              <a:ext cx="10515600" cy="1242935"/>
            </a:xfrm>
            <a:prstGeom prst="roundRect">
              <a:avLst>
                <a:gd fmla="val 10000" name="adj"/>
              </a:avLst>
            </a:prstGeom>
            <a:solidFill>
              <a:srgbClr val="CAD1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4"/>
            <p:cNvSpPr/>
            <p:nvPr/>
          </p:nvSpPr>
          <p:spPr>
            <a:xfrm>
              <a:off x="375988" y="280191"/>
              <a:ext cx="683614" cy="683614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4"/>
            <p:cNvSpPr/>
            <p:nvPr/>
          </p:nvSpPr>
          <p:spPr>
            <a:xfrm>
              <a:off x="1435590" y="531"/>
              <a:ext cx="9080009" cy="1242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4"/>
            <p:cNvSpPr txBox="1"/>
            <p:nvPr/>
          </p:nvSpPr>
          <p:spPr>
            <a:xfrm>
              <a:off x="1435590" y="531"/>
              <a:ext cx="9080009" cy="1242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1525" lIns="131525" spcFirstLastPara="1" rIns="131525" wrap="square" tIns="13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Visit </a:t>
              </a:r>
              <a:r>
                <a:rPr b="0" i="0" lang="en-US" sz="2500" u="sng" cap="none" strike="noStrike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  <a:hlinkClick r:id="rId4"/>
                </a:rPr>
                <a:t>https://recspicy.onrender.com</a:t>
              </a: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  <p:sp>
          <p:nvSpPr>
            <p:cNvPr id="271" name="Google Shape;271;p24"/>
            <p:cNvSpPr/>
            <p:nvPr/>
          </p:nvSpPr>
          <p:spPr>
            <a:xfrm>
              <a:off x="0" y="1554201"/>
              <a:ext cx="10515600" cy="1242935"/>
            </a:xfrm>
            <a:prstGeom prst="roundRect">
              <a:avLst>
                <a:gd fmla="val 10000" name="adj"/>
              </a:avLst>
            </a:prstGeom>
            <a:solidFill>
              <a:srgbClr val="CAD1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4"/>
            <p:cNvSpPr/>
            <p:nvPr/>
          </p:nvSpPr>
          <p:spPr>
            <a:xfrm>
              <a:off x="375988" y="1833861"/>
              <a:ext cx="683614" cy="683614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4"/>
            <p:cNvSpPr/>
            <p:nvPr/>
          </p:nvSpPr>
          <p:spPr>
            <a:xfrm>
              <a:off x="1435590" y="1554201"/>
              <a:ext cx="9080009" cy="1242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4"/>
            <p:cNvSpPr txBox="1"/>
            <p:nvPr/>
          </p:nvSpPr>
          <p:spPr>
            <a:xfrm>
              <a:off x="1435590" y="1554201"/>
              <a:ext cx="9080009" cy="1242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1525" lIns="131525" spcFirstLastPara="1" rIns="131525" wrap="square" tIns="13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New users can register and verify email</a:t>
              </a:r>
              <a:endParaRPr/>
            </a:p>
          </p:txBody>
        </p:sp>
        <p:sp>
          <p:nvSpPr>
            <p:cNvPr id="275" name="Google Shape;275;p24"/>
            <p:cNvSpPr/>
            <p:nvPr/>
          </p:nvSpPr>
          <p:spPr>
            <a:xfrm>
              <a:off x="0" y="3107870"/>
              <a:ext cx="10515600" cy="1242935"/>
            </a:xfrm>
            <a:prstGeom prst="roundRect">
              <a:avLst>
                <a:gd fmla="val 10000" name="adj"/>
              </a:avLst>
            </a:prstGeom>
            <a:solidFill>
              <a:srgbClr val="CAD1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4"/>
            <p:cNvSpPr/>
            <p:nvPr/>
          </p:nvSpPr>
          <p:spPr>
            <a:xfrm>
              <a:off x="375988" y="3387531"/>
              <a:ext cx="683614" cy="683614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4"/>
            <p:cNvSpPr/>
            <p:nvPr/>
          </p:nvSpPr>
          <p:spPr>
            <a:xfrm>
              <a:off x="1435590" y="3107870"/>
              <a:ext cx="9080009" cy="1242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4"/>
            <p:cNvSpPr txBox="1"/>
            <p:nvPr/>
          </p:nvSpPr>
          <p:spPr>
            <a:xfrm>
              <a:off x="1435590" y="3107870"/>
              <a:ext cx="9080009" cy="1242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1525" lIns="131525" spcFirstLastPara="1" rIns="131525" wrap="square" tIns="13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Admins have special access to analytics and management tools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5"/>
          <p:cNvSpPr/>
          <p:nvPr/>
        </p:nvSpPr>
        <p:spPr>
          <a:xfrm>
            <a:off x="0" y="0"/>
            <a:ext cx="11416414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889000" sx="90000" rotWithShape="0" algn="t" dir="21540000" dist="406400" sy="90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5"/>
          <p:cNvSpPr txBox="1"/>
          <p:nvPr>
            <p:ph type="title"/>
          </p:nvPr>
        </p:nvSpPr>
        <p:spPr>
          <a:xfrm>
            <a:off x="6803409" y="762001"/>
            <a:ext cx="4156512" cy="17082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lay"/>
              <a:buNone/>
            </a:pPr>
            <a:r>
              <a:rPr lang="en-US" sz="3700">
                <a:latin typeface="Play"/>
                <a:ea typeface="Play"/>
                <a:cs typeface="Play"/>
                <a:sym typeface="Play"/>
              </a:rPr>
              <a:t>System Organization &amp; Navigation</a:t>
            </a:r>
            <a:endParaRPr sz="3700"/>
          </a:p>
        </p:txBody>
      </p:sp>
      <p:pic>
        <p:nvPicPr>
          <p:cNvPr descr="Person writing on a notepad" id="286" name="Google Shape;286;p25"/>
          <p:cNvPicPr preferRelativeResize="0"/>
          <p:nvPr/>
        </p:nvPicPr>
        <p:blipFill rotWithShape="1">
          <a:blip r:embed="rId3">
            <a:alphaModFix/>
          </a:blip>
          <a:srcRect b="0" l="18469" r="11085" t="0"/>
          <a:stretch/>
        </p:blipFill>
        <p:spPr>
          <a:xfrm>
            <a:off x="-1" y="-2"/>
            <a:ext cx="6096001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5"/>
          <p:cNvSpPr txBox="1"/>
          <p:nvPr>
            <p:ph idx="1" type="body"/>
          </p:nvPr>
        </p:nvSpPr>
        <p:spPr>
          <a:xfrm>
            <a:off x="6803409" y="2470245"/>
            <a:ext cx="4156512" cy="3769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Play"/>
                <a:ea typeface="Play"/>
                <a:cs typeface="Play"/>
                <a:sym typeface="Play"/>
              </a:rPr>
              <a:t>Clear, easy-to-use interface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Play"/>
                <a:ea typeface="Play"/>
                <a:cs typeface="Play"/>
                <a:sym typeface="Play"/>
              </a:rPr>
              <a:t>Main navigation: landing, authentication, dashboard, recipe management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Play"/>
                <a:ea typeface="Play"/>
                <a:cs typeface="Play"/>
                <a:sym typeface="Play"/>
              </a:rPr>
              <a:t>Consistent layouts and accessibility features</a:t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6"/>
          <p:cNvSpPr/>
          <p:nvPr/>
        </p:nvSpPr>
        <p:spPr>
          <a:xfrm>
            <a:off x="199528" y="554152"/>
            <a:ext cx="5742189" cy="5742189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6"/>
          <p:cNvSpPr txBox="1"/>
          <p:nvPr>
            <p:ph type="title"/>
          </p:nvPr>
        </p:nvSpPr>
        <p:spPr>
          <a:xfrm>
            <a:off x="1245072" y="1289765"/>
            <a:ext cx="3651101" cy="4270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Play"/>
              <a:buNone/>
            </a:pPr>
            <a:r>
              <a:rPr lang="en-US" sz="56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Operational Scenarios</a:t>
            </a:r>
            <a:endParaRPr sz="5600">
              <a:solidFill>
                <a:srgbClr val="FFFFFF"/>
              </a:solidFill>
            </a:endParaRPr>
          </a:p>
        </p:txBody>
      </p:sp>
      <p:sp>
        <p:nvSpPr>
          <p:cNvPr id="295" name="Google Shape;295;p26"/>
          <p:cNvSpPr/>
          <p:nvPr/>
        </p:nvSpPr>
        <p:spPr>
          <a:xfrm>
            <a:off x="1123493" y="374394"/>
            <a:ext cx="171515" cy="171515"/>
          </a:xfrm>
          <a:custGeom>
            <a:rect b="b" l="l" r="r" t="t"/>
            <a:pathLst>
              <a:path extrusionOk="0" h="171515" w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6"/>
          <p:cNvSpPr/>
          <p:nvPr/>
        </p:nvSpPr>
        <p:spPr>
          <a:xfrm>
            <a:off x="550109" y="1084507"/>
            <a:ext cx="157545" cy="157545"/>
          </a:xfrm>
          <a:custGeom>
            <a:rect b="b" l="l" r="r" t="t"/>
            <a:pathLst>
              <a:path extrusionOk="0" h="157545" w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6"/>
          <p:cNvSpPr txBox="1"/>
          <p:nvPr>
            <p:ph idx="1" type="body"/>
          </p:nvPr>
        </p:nvSpPr>
        <p:spPr>
          <a:xfrm>
            <a:off x="6297233" y="518400"/>
            <a:ext cx="4771607" cy="58379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New users create accounts and set up profiles</a:t>
            </a:r>
            <a:endParaRPr sz="2000"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Regular users search, create, and plan recipes</a:t>
            </a:r>
            <a:endParaRPr sz="2000"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Admins manage users, handle support, ensure privacy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298" name="Google Shape;298;p26"/>
          <p:cNvSpPr/>
          <p:nvPr/>
        </p:nvSpPr>
        <p:spPr>
          <a:xfrm>
            <a:off x="5436547" y="5751820"/>
            <a:ext cx="112426" cy="112426"/>
          </a:xfrm>
          <a:custGeom>
            <a:rect b="b" l="l" r="r" t="t"/>
            <a:pathLst>
              <a:path extrusionOk="0" h="112426" w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9" name="Google Shape;299;p26"/>
          <p:cNvCxnSpPr/>
          <p:nvPr/>
        </p:nvCxnSpPr>
        <p:spPr>
          <a:xfrm>
            <a:off x="11586162" y="3610394"/>
            <a:ext cx="0" cy="3238728"/>
          </a:xfrm>
          <a:prstGeom prst="straightConnector1">
            <a:avLst/>
          </a:prstGeom>
          <a:noFill/>
          <a:ln cap="sq" cmpd="sng" w="25400">
            <a:solidFill>
              <a:schemeClr val="accent1"/>
            </a:solidFill>
            <a:prstDash val="solid"/>
            <a:bevel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7"/>
          <p:cNvSpPr txBox="1"/>
          <p:nvPr>
            <p:ph type="title"/>
          </p:nvPr>
        </p:nvSpPr>
        <p:spPr>
          <a:xfrm>
            <a:off x="761800" y="762001"/>
            <a:ext cx="5334197" cy="17082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>
                <a:latin typeface="Play"/>
                <a:ea typeface="Play"/>
                <a:cs typeface="Play"/>
                <a:sym typeface="Play"/>
              </a:rPr>
              <a:t>Who Did What</a:t>
            </a:r>
            <a:endParaRPr sz="4000"/>
          </a:p>
        </p:txBody>
      </p:sp>
      <p:sp>
        <p:nvSpPr>
          <p:cNvPr id="306" name="Google Shape;306;p27"/>
          <p:cNvSpPr txBox="1"/>
          <p:nvPr>
            <p:ph idx="1" type="body"/>
          </p:nvPr>
        </p:nvSpPr>
        <p:spPr>
          <a:xfrm>
            <a:off x="761800" y="2470244"/>
            <a:ext cx="5334197" cy="3769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Play"/>
                <a:ea typeface="Play"/>
                <a:cs typeface="Play"/>
                <a:sym typeface="Play"/>
              </a:rPr>
              <a:t>Jimmy: frontend, UI and navigation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Play"/>
                <a:ea typeface="Play"/>
                <a:cs typeface="Play"/>
                <a:sym typeface="Play"/>
              </a:rPr>
              <a:t>Steven: backend, server, API, and database management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Play"/>
                <a:ea typeface="Play"/>
                <a:cs typeface="Play"/>
                <a:sym typeface="Play"/>
              </a:rPr>
              <a:t>Both of us worked on connected frontend and backend</a:t>
            </a:r>
            <a:endParaRPr sz="2000"/>
          </a:p>
        </p:txBody>
      </p:sp>
      <p:pic>
        <p:nvPicPr>
          <p:cNvPr descr="Illuminated server room panel" id="307" name="Google Shape;307;p27"/>
          <p:cNvPicPr preferRelativeResize="0"/>
          <p:nvPr/>
        </p:nvPicPr>
        <p:blipFill rotWithShape="1">
          <a:blip r:embed="rId3">
            <a:alphaModFix/>
          </a:blip>
          <a:srcRect b="-1" l="20716" r="27447" t="0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noFill/>
          <a:ln>
            <a:noFill/>
          </a:ln>
          <a:effectLst>
            <a:outerShdw blurRad="127000" sx="99000" rotWithShape="0" algn="r" dir="10800000" dist="50800" sy="99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8"/>
          <p:cNvSpPr/>
          <p:nvPr/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rgbClr val="0F4861"/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8"/>
          <p:cNvSpPr/>
          <p:nvPr/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40000">
                <a:srgbClr val="156082">
                  <a:alpha val="0"/>
                </a:srgbClr>
              </a:gs>
              <a:gs pos="100000">
                <a:srgbClr val="0F4861">
                  <a:alpha val="51764"/>
                </a:srgbClr>
              </a:gs>
            </a:gsLst>
            <a:lin ang="2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8"/>
          <p:cNvSpPr/>
          <p:nvPr/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17000">
                <a:srgbClr val="156082">
                  <a:alpha val="0"/>
                </a:srgbClr>
              </a:gs>
              <a:gs pos="100000">
                <a:srgbClr val="000000">
                  <a:alpha val="36862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8"/>
          <p:cNvSpPr/>
          <p:nvPr/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rgbClr val="0A3041">
                  <a:alpha val="0"/>
                </a:srgbClr>
              </a:gs>
              <a:gs pos="100000">
                <a:srgbClr val="000000">
                  <a:alpha val="24705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8"/>
          <p:cNvSpPr/>
          <p:nvPr/>
        </p:nvSpPr>
        <p:spPr>
          <a:xfrm rot="-9091028">
            <a:off x="5945431" y="-1032053"/>
            <a:ext cx="4990147" cy="4439131"/>
          </a:xfrm>
          <a:custGeom>
            <a:rect b="b" l="l" r="r" t="t"/>
            <a:pathLst>
              <a:path extrusionOk="0" h="4439131" w="4990147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rgbClr val="156082">
                  <a:alpha val="21960"/>
                </a:srgbClr>
              </a:gs>
              <a:gs pos="87000">
                <a:srgbClr val="43AFE2">
                  <a:alpha val="1960"/>
                </a:srgbClr>
              </a:gs>
              <a:gs pos="100000">
                <a:srgbClr val="43AFE2">
                  <a:alpha val="1960"/>
                </a:srgbClr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8"/>
          <p:cNvSpPr txBox="1"/>
          <p:nvPr>
            <p:ph type="title"/>
          </p:nvPr>
        </p:nvSpPr>
        <p:spPr>
          <a:xfrm>
            <a:off x="1314824" y="735106"/>
            <a:ext cx="10053763" cy="29284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lay"/>
              <a:buNone/>
            </a:pPr>
            <a:r>
              <a:rPr lang="en-US" sz="4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Website Manual</a:t>
            </a:r>
            <a:endParaRPr sz="48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9"/>
          <p:cNvSpPr/>
          <p:nvPr/>
        </p:nvSpPr>
        <p:spPr>
          <a:xfrm flipH="1" rot="5400000">
            <a:off x="-638515" y="639280"/>
            <a:ext cx="6858000" cy="5579440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9"/>
          <p:cNvSpPr/>
          <p:nvPr/>
        </p:nvSpPr>
        <p:spPr>
          <a:xfrm flipH="1" rot="5400000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9"/>
          <p:cNvSpPr/>
          <p:nvPr/>
        </p:nvSpPr>
        <p:spPr>
          <a:xfrm flipH="1" rot="5400000">
            <a:off x="1528907" y="2818967"/>
            <a:ext cx="2501979" cy="5576080"/>
          </a:xfrm>
          <a:prstGeom prst="rect">
            <a:avLst/>
          </a:prstGeom>
          <a:gradFill>
            <a:gsLst>
              <a:gs pos="0">
                <a:srgbClr val="156082">
                  <a:alpha val="28627"/>
                </a:srgbClr>
              </a:gs>
              <a:gs pos="2000">
                <a:srgbClr val="156082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9"/>
          <p:cNvSpPr/>
          <p:nvPr/>
        </p:nvSpPr>
        <p:spPr>
          <a:xfrm flipH="1" rot="5400000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10980"/>
                </a:srgbClr>
              </a:gs>
              <a:gs pos="100000">
                <a:srgbClr val="156082">
                  <a:alpha val="10980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9"/>
          <p:cNvSpPr/>
          <p:nvPr/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0">
                <a:srgbClr val="156082">
                  <a:alpha val="0"/>
                </a:srgbClr>
              </a:gs>
              <a:gs pos="39000">
                <a:srgbClr val="156082">
                  <a:alpha val="0"/>
                </a:srgbClr>
              </a:gs>
              <a:gs pos="100000">
                <a:srgbClr val="43AFE2">
                  <a:alpha val="14901"/>
                </a:srgbClr>
              </a:gs>
            </a:gsLst>
            <a:lin ang="17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29"/>
          <p:cNvSpPr txBox="1"/>
          <p:nvPr>
            <p:ph type="title"/>
          </p:nvPr>
        </p:nvSpPr>
        <p:spPr>
          <a:xfrm>
            <a:off x="826396" y="586855"/>
            <a:ext cx="4230100" cy="33874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n-US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Website Manual: Home Page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330" name="Google Shape;330;p29"/>
          <p:cNvSpPr txBox="1"/>
          <p:nvPr>
            <p:ph idx="1" type="body"/>
          </p:nvPr>
        </p:nvSpPr>
        <p:spPr>
          <a:xfrm>
            <a:off x="6503158" y="649480"/>
            <a:ext cx="4862447" cy="5546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Play"/>
                <a:ea typeface="Play"/>
                <a:cs typeface="Play"/>
                <a:sym typeface="Play"/>
              </a:rPr>
              <a:t>Personalized dashboard with tailored content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Play"/>
                <a:ea typeface="Play"/>
                <a:cs typeface="Play"/>
                <a:sym typeface="Play"/>
              </a:rPr>
              <a:t>Recipe recommendations based on preferences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Play"/>
                <a:ea typeface="Play"/>
                <a:cs typeface="Play"/>
                <a:sym typeface="Play"/>
              </a:rPr>
              <a:t>Activity feed shows updates from friends</a:t>
            </a:r>
            <a:endParaRPr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sz="4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Website Manual: Recipe Display</a:t>
            </a:r>
            <a:endParaRPr/>
          </a:p>
        </p:txBody>
      </p:sp>
      <p:grpSp>
        <p:nvGrpSpPr>
          <p:cNvPr id="336" name="Google Shape;336;p30"/>
          <p:cNvGrpSpPr/>
          <p:nvPr/>
        </p:nvGrpSpPr>
        <p:grpSpPr>
          <a:xfrm>
            <a:off x="838200" y="1826156"/>
            <a:ext cx="10515600" cy="4350274"/>
            <a:chOff x="0" y="531"/>
            <a:chExt cx="10515600" cy="4350274"/>
          </a:xfrm>
        </p:grpSpPr>
        <p:sp>
          <p:nvSpPr>
            <p:cNvPr id="337" name="Google Shape;337;p30"/>
            <p:cNvSpPr/>
            <p:nvPr/>
          </p:nvSpPr>
          <p:spPr>
            <a:xfrm>
              <a:off x="0" y="531"/>
              <a:ext cx="10515600" cy="1242935"/>
            </a:xfrm>
            <a:prstGeom prst="roundRect">
              <a:avLst>
                <a:gd fmla="val 10000" name="adj"/>
              </a:avLst>
            </a:prstGeom>
            <a:solidFill>
              <a:srgbClr val="CAD1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30"/>
            <p:cNvSpPr/>
            <p:nvPr/>
          </p:nvSpPr>
          <p:spPr>
            <a:xfrm>
              <a:off x="375988" y="280191"/>
              <a:ext cx="683614" cy="683614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30"/>
            <p:cNvSpPr/>
            <p:nvPr/>
          </p:nvSpPr>
          <p:spPr>
            <a:xfrm>
              <a:off x="1435590" y="531"/>
              <a:ext cx="9080009" cy="1242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30"/>
            <p:cNvSpPr txBox="1"/>
            <p:nvPr/>
          </p:nvSpPr>
          <p:spPr>
            <a:xfrm>
              <a:off x="1435590" y="531"/>
              <a:ext cx="9080009" cy="1242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1525" lIns="131525" spcFirstLastPara="1" rIns="131525" wrap="square" tIns="13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lang="en-US" sz="2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Organized recipe details with interactive elements</a:t>
              </a:r>
              <a:endParaRPr/>
            </a:p>
          </p:txBody>
        </p:sp>
        <p:sp>
          <p:nvSpPr>
            <p:cNvPr id="341" name="Google Shape;341;p30"/>
            <p:cNvSpPr/>
            <p:nvPr/>
          </p:nvSpPr>
          <p:spPr>
            <a:xfrm>
              <a:off x="0" y="1554201"/>
              <a:ext cx="10515600" cy="1242935"/>
            </a:xfrm>
            <a:prstGeom prst="roundRect">
              <a:avLst>
                <a:gd fmla="val 10000" name="adj"/>
              </a:avLst>
            </a:prstGeom>
            <a:solidFill>
              <a:srgbClr val="CAD1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30"/>
            <p:cNvSpPr/>
            <p:nvPr/>
          </p:nvSpPr>
          <p:spPr>
            <a:xfrm>
              <a:off x="375988" y="1833861"/>
              <a:ext cx="683614" cy="683614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30"/>
            <p:cNvSpPr/>
            <p:nvPr/>
          </p:nvSpPr>
          <p:spPr>
            <a:xfrm>
              <a:off x="1435590" y="1554201"/>
              <a:ext cx="9080009" cy="1242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30"/>
            <p:cNvSpPr txBox="1"/>
            <p:nvPr/>
          </p:nvSpPr>
          <p:spPr>
            <a:xfrm>
              <a:off x="1435590" y="1554201"/>
              <a:ext cx="9080009" cy="1242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1525" lIns="131525" spcFirstLastPara="1" rIns="131525" wrap="square" tIns="13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lang="en-US" sz="2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Ingredient checklists and step-by-step instructions with times</a:t>
              </a:r>
              <a:endParaRPr/>
            </a:p>
          </p:txBody>
        </p:sp>
        <p:sp>
          <p:nvSpPr>
            <p:cNvPr id="345" name="Google Shape;345;p30"/>
            <p:cNvSpPr/>
            <p:nvPr/>
          </p:nvSpPr>
          <p:spPr>
            <a:xfrm>
              <a:off x="0" y="3107870"/>
              <a:ext cx="10515600" cy="1242935"/>
            </a:xfrm>
            <a:prstGeom prst="roundRect">
              <a:avLst>
                <a:gd fmla="val 10000" name="adj"/>
              </a:avLst>
            </a:prstGeom>
            <a:solidFill>
              <a:srgbClr val="CAD1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30"/>
            <p:cNvSpPr/>
            <p:nvPr/>
          </p:nvSpPr>
          <p:spPr>
            <a:xfrm>
              <a:off x="375988" y="3387531"/>
              <a:ext cx="683614" cy="683614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30"/>
            <p:cNvSpPr/>
            <p:nvPr/>
          </p:nvSpPr>
          <p:spPr>
            <a:xfrm>
              <a:off x="1435590" y="3107870"/>
              <a:ext cx="9080009" cy="1242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30"/>
            <p:cNvSpPr txBox="1"/>
            <p:nvPr/>
          </p:nvSpPr>
          <p:spPr>
            <a:xfrm>
              <a:off x="1435590" y="3107870"/>
              <a:ext cx="9080009" cy="1242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1525" lIns="131525" spcFirstLastPara="1" rIns="131525" wrap="square" tIns="131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lang="en-US" sz="2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Print/export options</a:t>
              </a: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1"/>
          <p:cNvSpPr/>
          <p:nvPr/>
        </p:nvSpPr>
        <p:spPr>
          <a:xfrm flipH="1" rot="5400000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1"/>
          <p:cNvSpPr/>
          <p:nvPr/>
        </p:nvSpPr>
        <p:spPr>
          <a:xfrm flipH="1" rot="5400000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1"/>
          <p:cNvSpPr/>
          <p:nvPr/>
        </p:nvSpPr>
        <p:spPr>
          <a:xfrm flipH="1" rot="5400000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156082">
                  <a:alpha val="28627"/>
                </a:srgbClr>
              </a:gs>
              <a:gs pos="2000">
                <a:srgbClr val="156082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1"/>
          <p:cNvSpPr/>
          <p:nvPr/>
        </p:nvSpPr>
        <p:spPr>
          <a:xfrm rot="-964587">
            <a:off x="-501737" y="969718"/>
            <a:ext cx="3900357" cy="417895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1"/>
          <p:cNvSpPr/>
          <p:nvPr/>
        </p:nvSpPr>
        <p:spPr>
          <a:xfrm flipH="1" rot="5400000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AFE2">
                  <a:alpha val="10980"/>
                </a:srgbClr>
              </a:gs>
              <a:gs pos="100000">
                <a:srgbClr val="43AFE2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31"/>
          <p:cNvSpPr txBox="1"/>
          <p:nvPr>
            <p:ph type="title"/>
          </p:nvPr>
        </p:nvSpPr>
        <p:spPr>
          <a:xfrm>
            <a:off x="466722" y="586855"/>
            <a:ext cx="3201366" cy="33874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n-US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Website Manual: Recipe Search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361" name="Google Shape;361;p31"/>
          <p:cNvSpPr txBox="1"/>
          <p:nvPr>
            <p:ph idx="1" type="body"/>
          </p:nvPr>
        </p:nvSpPr>
        <p:spPr>
          <a:xfrm>
            <a:off x="4810259" y="649480"/>
            <a:ext cx="6555347" cy="5546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Play"/>
                <a:ea typeface="Play"/>
                <a:cs typeface="Play"/>
                <a:sym typeface="Play"/>
              </a:rPr>
              <a:t>Find recipes by ingredients, cooking time, difficulty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Play"/>
                <a:ea typeface="Play"/>
                <a:cs typeface="Play"/>
                <a:sym typeface="Play"/>
              </a:rPr>
              <a:t>Autocomplete suggestions and voice input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Play"/>
                <a:ea typeface="Play"/>
                <a:cs typeface="Play"/>
                <a:sym typeface="Play"/>
              </a:rPr>
              <a:t>Dynamic results update as filters are applied</a:t>
            </a:r>
            <a:endParaRPr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3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2"/>
          <p:cNvSpPr/>
          <p:nvPr/>
        </p:nvSpPr>
        <p:spPr>
          <a:xfrm flipH="1" rot="5400000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32"/>
          <p:cNvSpPr/>
          <p:nvPr/>
        </p:nvSpPr>
        <p:spPr>
          <a:xfrm flipH="1" rot="5400000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2"/>
          <p:cNvSpPr/>
          <p:nvPr/>
        </p:nvSpPr>
        <p:spPr>
          <a:xfrm flipH="1" rot="5400000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156082">
                  <a:alpha val="28627"/>
                </a:srgbClr>
              </a:gs>
              <a:gs pos="2000">
                <a:srgbClr val="156082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32"/>
          <p:cNvSpPr/>
          <p:nvPr/>
        </p:nvSpPr>
        <p:spPr>
          <a:xfrm rot="-964587">
            <a:off x="-501737" y="969718"/>
            <a:ext cx="3900357" cy="417895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32"/>
          <p:cNvSpPr/>
          <p:nvPr/>
        </p:nvSpPr>
        <p:spPr>
          <a:xfrm flipH="1" rot="5400000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AFE2">
                  <a:alpha val="10980"/>
                </a:srgbClr>
              </a:gs>
              <a:gs pos="100000">
                <a:srgbClr val="43AFE2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32"/>
          <p:cNvSpPr txBox="1"/>
          <p:nvPr>
            <p:ph type="title"/>
          </p:nvPr>
        </p:nvSpPr>
        <p:spPr>
          <a:xfrm>
            <a:off x="466722" y="586855"/>
            <a:ext cx="3201366" cy="33874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n-US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Website Manual: Favoriting System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374" name="Google Shape;374;p32"/>
          <p:cNvSpPr txBox="1"/>
          <p:nvPr>
            <p:ph idx="1" type="body"/>
          </p:nvPr>
        </p:nvSpPr>
        <p:spPr>
          <a:xfrm>
            <a:off x="4810259" y="649480"/>
            <a:ext cx="6555347" cy="5546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Play"/>
                <a:ea typeface="Play"/>
                <a:cs typeface="Play"/>
                <a:sym typeface="Play"/>
              </a:rPr>
              <a:t>Bookmark and organize favorite recipes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Play"/>
                <a:ea typeface="Play"/>
                <a:cs typeface="Play"/>
                <a:sym typeface="Play"/>
              </a:rPr>
              <a:t>Create custom and smart collections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Play"/>
                <a:ea typeface="Play"/>
                <a:cs typeface="Play"/>
                <a:sym typeface="Play"/>
              </a:rPr>
              <a:t>Sync across devices, export to other apps</a:t>
            </a:r>
            <a:endParaRPr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3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33"/>
          <p:cNvSpPr/>
          <p:nvPr/>
        </p:nvSpPr>
        <p:spPr>
          <a:xfrm flipH="1" rot="5400000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33"/>
          <p:cNvSpPr/>
          <p:nvPr/>
        </p:nvSpPr>
        <p:spPr>
          <a:xfrm flipH="1" rot="5400000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33"/>
          <p:cNvSpPr/>
          <p:nvPr/>
        </p:nvSpPr>
        <p:spPr>
          <a:xfrm flipH="1" rot="5400000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156082">
                  <a:alpha val="28627"/>
                </a:srgbClr>
              </a:gs>
              <a:gs pos="2000">
                <a:srgbClr val="156082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33"/>
          <p:cNvSpPr/>
          <p:nvPr/>
        </p:nvSpPr>
        <p:spPr>
          <a:xfrm rot="-964587">
            <a:off x="-501737" y="969718"/>
            <a:ext cx="3900357" cy="417895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33"/>
          <p:cNvSpPr/>
          <p:nvPr/>
        </p:nvSpPr>
        <p:spPr>
          <a:xfrm flipH="1" rot="5400000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AFE2">
                  <a:alpha val="10980"/>
                </a:srgbClr>
              </a:gs>
              <a:gs pos="100000">
                <a:srgbClr val="43AFE2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3"/>
          <p:cNvSpPr txBox="1"/>
          <p:nvPr>
            <p:ph type="title"/>
          </p:nvPr>
        </p:nvSpPr>
        <p:spPr>
          <a:xfrm>
            <a:off x="466722" y="586855"/>
            <a:ext cx="3201366" cy="33874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n-US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Website Manual: Meal Planner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387" name="Google Shape;387;p33"/>
          <p:cNvSpPr txBox="1"/>
          <p:nvPr>
            <p:ph idx="1" type="body"/>
          </p:nvPr>
        </p:nvSpPr>
        <p:spPr>
          <a:xfrm>
            <a:off x="4810259" y="649480"/>
            <a:ext cx="6555347" cy="5546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Play"/>
                <a:ea typeface="Play"/>
                <a:cs typeface="Play"/>
                <a:sym typeface="Play"/>
              </a:rPr>
              <a:t>Interactive scheduling meals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Play"/>
                <a:ea typeface="Play"/>
                <a:cs typeface="Play"/>
                <a:sym typeface="Play"/>
              </a:rPr>
              <a:t>Share family meal plans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Play"/>
                <a:ea typeface="Play"/>
                <a:cs typeface="Play"/>
                <a:sym typeface="Play"/>
              </a:rPr>
              <a:t>Using our system for tracking and planning</a:t>
            </a:r>
            <a:endParaRPr sz="2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4"/>
          <p:cNvSpPr/>
          <p:nvPr/>
        </p:nvSpPr>
        <p:spPr>
          <a:xfrm flipH="1" rot="5400000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34"/>
          <p:cNvSpPr/>
          <p:nvPr/>
        </p:nvSpPr>
        <p:spPr>
          <a:xfrm flipH="1" rot="5400000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4"/>
          <p:cNvSpPr/>
          <p:nvPr/>
        </p:nvSpPr>
        <p:spPr>
          <a:xfrm flipH="1" rot="5400000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156082">
                  <a:alpha val="28627"/>
                </a:srgbClr>
              </a:gs>
              <a:gs pos="2000">
                <a:srgbClr val="156082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34"/>
          <p:cNvSpPr/>
          <p:nvPr/>
        </p:nvSpPr>
        <p:spPr>
          <a:xfrm rot="-964587">
            <a:off x="-501737" y="969718"/>
            <a:ext cx="3900357" cy="417895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34"/>
          <p:cNvSpPr/>
          <p:nvPr/>
        </p:nvSpPr>
        <p:spPr>
          <a:xfrm flipH="1" rot="5400000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AFE2">
                  <a:alpha val="10980"/>
                </a:srgbClr>
              </a:gs>
              <a:gs pos="100000">
                <a:srgbClr val="43AFE2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4"/>
          <p:cNvSpPr txBox="1"/>
          <p:nvPr>
            <p:ph type="title"/>
          </p:nvPr>
        </p:nvSpPr>
        <p:spPr>
          <a:xfrm>
            <a:off x="466722" y="586855"/>
            <a:ext cx="3201366" cy="33874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lay"/>
              <a:buNone/>
            </a:pPr>
            <a:r>
              <a:rPr lang="en-US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Website Manual: Admin Tools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400" name="Google Shape;400;p34"/>
          <p:cNvSpPr txBox="1"/>
          <p:nvPr>
            <p:ph idx="1" type="body"/>
          </p:nvPr>
        </p:nvSpPr>
        <p:spPr>
          <a:xfrm>
            <a:off x="4810259" y="649480"/>
            <a:ext cx="6555347" cy="5546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Play"/>
                <a:ea typeface="Play"/>
                <a:cs typeface="Play"/>
                <a:sym typeface="Play"/>
              </a:rPr>
              <a:t>Analytics dashboards tracking usage and popular recipes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Play"/>
                <a:ea typeface="Play"/>
                <a:cs typeface="Play"/>
                <a:sym typeface="Play"/>
              </a:rPr>
              <a:t>User management for account moderation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Play"/>
                <a:ea typeface="Play"/>
                <a:cs typeface="Play"/>
                <a:sym typeface="Play"/>
              </a:rPr>
              <a:t>Contact and feedback access for user experience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